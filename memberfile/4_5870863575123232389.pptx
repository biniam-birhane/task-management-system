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99" r:id="rId4"/>
    <p:sldId id="300" r:id="rId5"/>
    <p:sldId id="301" r:id="rId6"/>
    <p:sldId id="258" r:id="rId7"/>
    <p:sldId id="269" r:id="rId8"/>
    <p:sldId id="261" r:id="rId9"/>
    <p:sldId id="270" r:id="rId10"/>
    <p:sldId id="271" r:id="rId11"/>
    <p:sldId id="272" r:id="rId12"/>
    <p:sldId id="273" r:id="rId13"/>
    <p:sldId id="274" r:id="rId14"/>
    <p:sldId id="276" r:id="rId15"/>
    <p:sldId id="303" r:id="rId16"/>
    <p:sldId id="304" r:id="rId17"/>
    <p:sldId id="277" r:id="rId18"/>
    <p:sldId id="278" r:id="rId19"/>
    <p:sldId id="282" r:id="rId20"/>
    <p:sldId id="306" r:id="rId21"/>
    <p:sldId id="275" r:id="rId22"/>
    <p:sldId id="263" r:id="rId23"/>
    <p:sldId id="284" r:id="rId24"/>
    <p:sldId id="294" r:id="rId25"/>
    <p:sldId id="293" r:id="rId26"/>
    <p:sldId id="307" r:id="rId27"/>
    <p:sldId id="308" r:id="rId28"/>
    <p:sldId id="309" r:id="rId29"/>
    <p:sldId id="310" r:id="rId30"/>
    <p:sldId id="324" r:id="rId31"/>
    <p:sldId id="325" r:id="rId32"/>
    <p:sldId id="326" r:id="rId33"/>
    <p:sldId id="32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808E5-442D-4F49-8DCA-01854C4CBDCE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ECB41-340D-43A2-992E-8A2530993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20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1D528-9644-4958-BC2E-B4E41B175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1B6D0-BF7E-402C-BD6A-B80718099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9D540-09CF-4A74-9F2E-B4FFB360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C8576-ED34-4B02-86AC-213C8383C523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8633-9578-4158-99DF-D39C3353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640B9-0386-4B45-AB54-1D4C15FF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B70D-F77B-427F-80D7-12BD158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25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13A0F-4DA4-44DA-82D8-83FD85B1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EE3EC-26CB-491B-A148-22E326841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4D9E6-9BAE-40B6-B97D-231E44747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C8576-ED34-4B02-86AC-213C8383C523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55743-8183-48BB-BF24-55A054172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EDEA6-624F-439C-8FAB-4B5AEFA6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B70D-F77B-427F-80D7-12BD158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3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5BB07-36A1-4816-80BA-00556CEAB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EEF0F-274A-4C9E-BB3C-3DAD4BD94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C0B33-31F8-4C71-9DBF-661564CB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C8576-ED34-4B02-86AC-213C8383C523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2487A-65C9-40A6-852B-A8C16B22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A3C34-D70B-4268-B0BE-C6467ECD8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B70D-F77B-427F-80D7-12BD158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74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A478B-524D-45F2-B2B5-1F5BBF30F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A5FC6-F6B7-4660-8BC3-C89F38568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5659C-9A94-4DB9-B5CD-C553EAC10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0025B-E6C0-4B56-B312-671DA25CF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C8576-ED34-4B02-86AC-213C8383C523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E7CD7-483C-4F76-B9C4-A5134D78B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6F49B-D2F8-4EE0-BB21-A314507E6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B70D-F77B-427F-80D7-12BD158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33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007E-82FC-4103-81B9-8E06D7084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2122C-66EF-4003-9C69-3703B1AFC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612F3-A8A4-4E1F-9852-F2865E721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1658A-AC40-4614-B76F-14CD85454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E4910B-944F-47C4-91C3-0A054FBD3E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C57DB3-86CE-455B-BADC-708C6AF1F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C8576-ED34-4B02-86AC-213C8383C523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84AF7-1C30-462D-996E-DD18BD5E8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587226-34F4-435D-8809-F03478A16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B70D-F77B-427F-80D7-12BD158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50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79DE-A1A3-4E96-B1C7-D390DD34D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CF462E-6572-43DA-85C9-7571AEBC7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C8576-ED34-4B02-86AC-213C8383C523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F3CDF-40E4-4593-8F53-4A319AB4B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7E0CD-69E9-4AF0-AD4C-8B8812CC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B70D-F77B-427F-80D7-12BD158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5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B8DBF0-0BF5-4538-BB34-CCA851BCB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C8576-ED34-4B02-86AC-213C8383C523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A9FEC-C22C-448A-BD57-8D791CE1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B4734-F07C-4171-A401-00379DB2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B70D-F77B-427F-80D7-12BD158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6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C0AA9-51EF-4FBC-B4C2-F6712DDBB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86BE5-8F88-4EB5-8D4E-55B81995F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8E8EC-FCD2-4CC1-BE24-89DB184CE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DB2A0-FB89-4CF2-8619-407385325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C8576-ED34-4B02-86AC-213C8383C523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D7F0B-93C2-4F34-8E41-3EF9946DE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5752C-611F-43F1-99D2-4929AEF22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B70D-F77B-427F-80D7-12BD158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80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B7BAF-1A2D-42F7-BA87-C7B9F904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761AC5-3F9B-406F-9DC4-34483D2A5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CF078-59F6-4D85-81D0-439ECE6E1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EE3BF-7ECF-48B4-8A7C-3F554026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C8576-ED34-4B02-86AC-213C8383C523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BC812-14B3-43F3-A11A-BCE5426F6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91683-0824-4572-A326-A45022FD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B70D-F77B-427F-80D7-12BD158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94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8886B-B655-48D5-95B7-C4BA200D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039CA-8397-4FD7-902E-C548A5028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E9B1A-8D00-4FD4-AD59-DFE52DCE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C8576-ED34-4B02-86AC-213C8383C523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1BA94-5FAD-46C6-B40D-02E0D44B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E6D99-415E-4AF1-A8AB-606FA6756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B70D-F77B-427F-80D7-12BD158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1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8C56BA-AE59-4CC5-967F-412592AC3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46EFA-1D71-4623-AAEB-C4A5DD68B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4BDCB-3F17-4359-B0D1-A911A0B10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C8576-ED34-4B02-86AC-213C8383C523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37DAD-32D9-4287-8415-B24421D8D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998F5-216A-442D-81FE-00A5D1554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B70D-F77B-427F-80D7-12BD158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A67B53-49DE-461F-8839-3ECF0709A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4E801-5CAD-43CB-BF15-3DCF4F6C3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08A3C-42E0-4790-91BA-E3F97C3EF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C8576-ED34-4B02-86AC-213C8383C523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1749A-62B9-491B-A156-0C69E6404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BDF42-F37A-4AEE-9793-C924410C6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FB70D-F77B-427F-80D7-12BD1587D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23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27D04-4488-4FBC-B3F1-D2720AB25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Chapter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C286B-D216-48C1-8218-34CDEA8BAF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Programming Language Syntax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925795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EB7B5-A785-4DA7-8C22-771024A5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CC78E-CB71-459B-9FE1-302E592A5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languages must be precise.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syntax and semantics must be specified</a:t>
            </a:r>
          </a:p>
          <a:p>
            <a:r>
              <a:rPr lang="en-US" dirty="0"/>
              <a:t>Distinguishing between syntax and semantics is useful for at least two reasons.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very similar semantics but very different syntax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there are some very efficient and elegant algorithms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975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7375-BC90-458D-B5D2-28D5628D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960AB-9172-4A0F-A2F8-877BD2F1D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Syntax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how we specify the structural rules of a programming language</a:t>
            </a:r>
          </a:p>
          <a:p>
            <a:pPr marL="0" indent="0">
              <a:buNone/>
            </a:pPr>
            <a:r>
              <a:rPr lang="en-US" dirty="0"/>
              <a:t>                  Programmers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i="1" dirty="0"/>
              <a:t>Relies on regular expressions </a:t>
            </a:r>
            <a:r>
              <a:rPr lang="en-US" dirty="0"/>
              <a:t>and </a:t>
            </a:r>
            <a:r>
              <a:rPr lang="en-US" i="1" dirty="0"/>
              <a:t>context-free grammars, </a:t>
            </a:r>
            <a:r>
              <a:rPr lang="en-US" dirty="0"/>
              <a:t>which specify how to generate valid programs.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how a compiler identifies the structure of a given input program.</a:t>
            </a:r>
          </a:p>
          <a:p>
            <a:pPr marL="0" indent="0">
              <a:buNone/>
            </a:pPr>
            <a:r>
              <a:rPr lang="en-US" dirty="0"/>
              <a:t>               Compilers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i="1" dirty="0"/>
              <a:t>Relies on scanners </a:t>
            </a:r>
            <a:r>
              <a:rPr lang="en-US" dirty="0"/>
              <a:t>and </a:t>
            </a:r>
            <a:r>
              <a:rPr lang="en-US" i="1" dirty="0"/>
              <a:t>parsers</a:t>
            </a:r>
            <a:r>
              <a:rPr lang="en-US" dirty="0"/>
              <a:t>, which recognize program structure.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243232F5-940C-4B99-8335-0639DD1EBF41}"/>
              </a:ext>
            </a:extLst>
          </p:cNvPr>
          <p:cNvSpPr/>
          <p:nvPr/>
        </p:nvSpPr>
        <p:spPr>
          <a:xfrm>
            <a:off x="1716259" y="2602694"/>
            <a:ext cx="534573" cy="46406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Arrow: Curved Right 5">
            <a:extLst>
              <a:ext uri="{FF2B5EF4-FFF2-40B4-BE49-F238E27FC236}">
                <a16:creationId xmlns:a16="http://schemas.microsoft.com/office/drawing/2014/main" id="{FE282A2D-479E-47FB-B104-E8DE203D82C5}"/>
              </a:ext>
            </a:extLst>
          </p:cNvPr>
          <p:cNvSpPr/>
          <p:nvPr/>
        </p:nvSpPr>
        <p:spPr>
          <a:xfrm>
            <a:off x="1533379" y="4491422"/>
            <a:ext cx="450166" cy="48596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372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9BA6-2508-4AD9-B67E-460948E68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FDD8D-6EC7-498E-96E6-8666593DA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Formal specification of syntax requires a set of rules.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Three kinds of formal rules: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800" dirty="0"/>
              <a:t>Concatenation,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800" dirty="0"/>
              <a:t>Alternation(choice among a finite set of alternatives),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800" dirty="0"/>
              <a:t>“Kleene closure” (repetition an arbitrary number of times).</a:t>
            </a:r>
          </a:p>
          <a:p>
            <a:r>
              <a:rPr lang="en-US" dirty="0"/>
              <a:t>One additional kind of rule: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Recursion (creation of a construct from simpler instances of the same construct).</a:t>
            </a:r>
          </a:p>
        </p:txBody>
      </p:sp>
    </p:spTree>
    <p:extLst>
      <p:ext uri="{BB962C8B-B14F-4D97-AF65-F5344CB8AC3E}">
        <p14:creationId xmlns:p14="http://schemas.microsoft.com/office/powerpoint/2010/main" val="703961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C7250-7B8D-473E-BD0A-4303D1CD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B73AA-987C-4B9A-B433-9F2823AB8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Defined in terms of the first three rules is called a </a:t>
            </a:r>
            <a:r>
              <a:rPr lang="en-US" i="1" dirty="0"/>
              <a:t>regular set/regular language.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Generated by </a:t>
            </a:r>
            <a:r>
              <a:rPr lang="en-US" sz="2800" i="1" dirty="0"/>
              <a:t>regular expressions </a:t>
            </a:r>
            <a:r>
              <a:rPr lang="en-US" sz="2800" dirty="0"/>
              <a:t>and recognized by scanners</a:t>
            </a:r>
          </a:p>
          <a:p>
            <a:r>
              <a:rPr lang="en-US" dirty="0"/>
              <a:t>If we add recursion is called a </a:t>
            </a:r>
            <a:r>
              <a:rPr lang="en-US" i="1" dirty="0"/>
              <a:t>context-free language </a:t>
            </a:r>
            <a:r>
              <a:rPr lang="en-US" dirty="0"/>
              <a:t>(CFL).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Generated by </a:t>
            </a:r>
            <a:r>
              <a:rPr lang="en-US" sz="2800" i="1" dirty="0"/>
              <a:t>context-free grammars </a:t>
            </a:r>
            <a:r>
              <a:rPr lang="en-US" sz="2800" dirty="0"/>
              <a:t>(CFGs) and recognized by parsers.</a:t>
            </a:r>
          </a:p>
        </p:txBody>
      </p:sp>
    </p:spTree>
    <p:extLst>
      <p:ext uri="{BB962C8B-B14F-4D97-AF65-F5344CB8AC3E}">
        <p14:creationId xmlns:p14="http://schemas.microsoft.com/office/powerpoint/2010/main" val="1309223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8C732DEA-07D9-4D43-9EB0-A4C3CF5BE3B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7722704" cy="946840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r>
              <a:rPr lang="en-US" dirty="0">
                <a:sym typeface="Arial Black" charset="0"/>
              </a:rPr>
              <a:t>Regular Expressions</a:t>
            </a:r>
            <a:endParaRPr lang="en-US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0E6BB35-712B-41C4-BB4E-4DC099111F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70050"/>
            <a:ext cx="10515600" cy="450691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rIns="132080"/>
          <a:lstStyle/>
          <a:p>
            <a:pPr eaLnBrk="1" hangingPunct="1"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A regular expression is one of the following:</a:t>
            </a:r>
          </a:p>
          <a:p>
            <a:pPr marL="782638" lvl="1" eaLnBrk="1" hangingPunct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A character</a:t>
            </a:r>
          </a:p>
          <a:p>
            <a:pPr marL="782638" lvl="1" eaLnBrk="1" hangingPunct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The empty string, denoted by </a:t>
            </a:r>
            <a:r>
              <a:rPr lang="en-US" sz="2800" dirty="0">
                <a:latin typeface="Courier New Bold" panose="02070609020205020404" pitchFamily="49" charset="0"/>
                <a:cs typeface="Courier New Bold" panose="02070609020205020404" pitchFamily="49" charset="0"/>
                <a:sym typeface="Symbol"/>
              </a:rPr>
              <a:t></a:t>
            </a:r>
            <a:endParaRPr lang="en-US" dirty="0">
              <a:latin typeface="Courier New Bold" panose="02070609020205020404" pitchFamily="49" charset="0"/>
              <a:cs typeface="Courier New Bold" panose="02070609020205020404" pitchFamily="49" charset="0"/>
              <a:sym typeface="Times New Roman" charset="0"/>
            </a:endParaRPr>
          </a:p>
          <a:p>
            <a:pPr marL="782638" lvl="1" eaLnBrk="1" hangingPunct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Two regular expressions concatenated</a:t>
            </a:r>
          </a:p>
          <a:p>
            <a:pPr marL="782638" lvl="1" eaLnBrk="1" hangingPunct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Two regular expressions separated by | (i.e., or)</a:t>
            </a:r>
          </a:p>
          <a:p>
            <a:pPr marL="782638" lvl="1" eaLnBrk="1" hangingPunct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A regular expression followed by the Kleene star </a:t>
            </a:r>
            <a:r>
              <a:rPr lang="en-US" sz="2800" dirty="0">
                <a:latin typeface="Courier New Bold" panose="02070609020205020404" pitchFamily="49" charset="0"/>
                <a:cs typeface="Courier New Bold" panose="02070609020205020404" pitchFamily="49" charset="0"/>
                <a:sym typeface="Times New Roman" charset="0"/>
              </a:rPr>
              <a:t>*</a:t>
            </a:r>
            <a:r>
              <a:rPr lang="en-US" sz="2800" dirty="0">
                <a:sym typeface="Times New Roman" charset="0"/>
              </a:rPr>
              <a:t> (concatenation of zero or more strings)</a:t>
            </a:r>
          </a:p>
        </p:txBody>
      </p:sp>
    </p:spTree>
    <p:extLst>
      <p:ext uri="{BB962C8B-B14F-4D97-AF65-F5344CB8AC3E}">
        <p14:creationId xmlns:p14="http://schemas.microsoft.com/office/powerpoint/2010/main" val="2462901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8C732DEA-07D9-4D43-9EB0-A4C3CF5BE3B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7722704" cy="946840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r>
              <a:rPr lang="en-US" dirty="0">
                <a:sym typeface="Arial Black" charset="0"/>
              </a:rPr>
              <a:t>Regular Expressions</a:t>
            </a:r>
            <a:endParaRPr lang="en-US" dirty="0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0D7FAFD7-2DFF-49AA-9BBD-011DA78C26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47329"/>
            <a:ext cx="10515600" cy="4351338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rIns="132080"/>
          <a:lstStyle/>
          <a:p>
            <a:pPr eaLnBrk="1" hangingPunct="1"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Numerical constants accepted by a simple hand-held calculator:</a:t>
            </a:r>
          </a:p>
          <a:p>
            <a:pPr eaLnBrk="1" hangingPunct="1">
              <a:buFont typeface="Times New Roman" charset="0"/>
              <a:buChar char="•"/>
              <a:defRPr/>
            </a:pPr>
            <a:endParaRPr lang="en-US" sz="3200" dirty="0">
              <a:sym typeface="Times New Roman" charset="0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BE649F7A-5F3D-4EC6-99D4-DCD86B61A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205" y="2760869"/>
            <a:ext cx="8051800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7507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14452EDC-715E-4161-87A8-C18B29E1291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199" y="365126"/>
            <a:ext cx="7656443" cy="933587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r>
              <a:rPr lang="en-US" dirty="0">
                <a:sym typeface="Arial Black" charset="0"/>
              </a:rPr>
              <a:t>Context-Free Grammars</a:t>
            </a:r>
            <a:endParaRPr lang="en-US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F17762F-C6DC-4037-8153-D28346DDC5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63757"/>
            <a:ext cx="10515600" cy="4613206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rIns="132080"/>
          <a:lstStyle/>
          <a:p>
            <a:pPr eaLnBrk="1" hangingPunct="1"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The notation for context-free grammars (CFG) is sometimes called Backus-Naur Form (BNF)</a:t>
            </a:r>
          </a:p>
          <a:p>
            <a:pPr eaLnBrk="1" hangingPunct="1"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A CFG consists of</a:t>
            </a:r>
          </a:p>
          <a:p>
            <a:pPr marL="782638" lvl="1" eaLnBrk="1" hangingPunct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A set of </a:t>
            </a:r>
            <a:r>
              <a:rPr lang="en-US" sz="2800" i="1" dirty="0">
                <a:sym typeface="Times New Roman" charset="0"/>
              </a:rPr>
              <a:t>terminals </a:t>
            </a:r>
            <a:r>
              <a:rPr lang="en-US" sz="2800" i="1" dirty="0">
                <a:solidFill>
                  <a:srgbClr val="FF0000"/>
                </a:solidFill>
                <a:sym typeface="Times New Roman" charset="0"/>
              </a:rPr>
              <a:t>T</a:t>
            </a:r>
          </a:p>
          <a:p>
            <a:pPr marL="782638" lvl="1" eaLnBrk="1" hangingPunct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A set of </a:t>
            </a:r>
            <a:r>
              <a:rPr lang="en-US" sz="2800" i="1" dirty="0">
                <a:sym typeface="Times New Roman" charset="0"/>
              </a:rPr>
              <a:t>non-terminals </a:t>
            </a:r>
            <a:r>
              <a:rPr lang="en-US" sz="2800" i="1" dirty="0">
                <a:solidFill>
                  <a:srgbClr val="FF0000"/>
                </a:solidFill>
                <a:sym typeface="Times New Roman" charset="0"/>
              </a:rPr>
              <a:t>N</a:t>
            </a:r>
          </a:p>
          <a:p>
            <a:pPr marL="782638" lvl="1" eaLnBrk="1" hangingPunct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A </a:t>
            </a:r>
            <a:r>
              <a:rPr lang="en-US" sz="2800" i="1" dirty="0">
                <a:sym typeface="Times New Roman" charset="0"/>
              </a:rPr>
              <a:t>start symbol</a:t>
            </a:r>
            <a:r>
              <a:rPr lang="en-US" sz="2800" dirty="0">
                <a:sym typeface="Times New Roman" charset="0"/>
              </a:rPr>
              <a:t> </a:t>
            </a:r>
            <a:r>
              <a:rPr lang="en-US" sz="2800" i="1" dirty="0">
                <a:solidFill>
                  <a:srgbClr val="FF0000"/>
                </a:solidFill>
                <a:sym typeface="Times New Roman" charset="0"/>
              </a:rPr>
              <a:t>S</a:t>
            </a:r>
            <a:r>
              <a:rPr lang="en-US" sz="2800" dirty="0">
                <a:sym typeface="Times New Roman" charset="0"/>
              </a:rPr>
              <a:t> (a non-terminal)</a:t>
            </a:r>
          </a:p>
          <a:p>
            <a:pPr marL="782638" lvl="1" eaLnBrk="1" hangingPunct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A set of </a:t>
            </a:r>
            <a:r>
              <a:rPr lang="en-US" sz="2800" i="1" dirty="0">
                <a:sym typeface="Times New Roman" charset="0"/>
              </a:rPr>
              <a:t>productions</a:t>
            </a:r>
          </a:p>
        </p:txBody>
      </p:sp>
    </p:spTree>
    <p:extLst>
      <p:ext uri="{BB962C8B-B14F-4D97-AF65-F5344CB8AC3E}">
        <p14:creationId xmlns:p14="http://schemas.microsoft.com/office/powerpoint/2010/main" val="679638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76316499-E006-4CDB-9F22-3539F3013BE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8478078" cy="999849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Context-Free Grammars</a:t>
            </a:r>
            <a:endParaRPr lang="en-US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ECF3199F-D3A2-40A1-9FD1-598323ABDF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30363"/>
            <a:ext cx="10515600" cy="4546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rIns="132080"/>
          <a:lstStyle/>
          <a:p>
            <a:pPr eaLnBrk="1" hangingPunct="1">
              <a:buFont typeface="Times New Roman" charset="0"/>
              <a:buChar char="•"/>
              <a:defRPr/>
            </a:pPr>
            <a:r>
              <a:rPr lang="en-US" sz="3200" dirty="0">
                <a:sym typeface="Arial Black" charset="0"/>
              </a:rPr>
              <a:t>Context-Free Grammars</a:t>
            </a:r>
          </a:p>
          <a:p>
            <a:pPr marL="0" indent="0" eaLnBrk="1" hangingPunct="1">
              <a:buNone/>
              <a:defRPr/>
            </a:pPr>
            <a:endParaRPr lang="en-US" sz="3200" dirty="0">
              <a:sym typeface="Times New Roman" charset="0"/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898D85D0-8D99-4C31-9A08-DD45D3FAD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90800"/>
            <a:ext cx="7627938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8693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76316499-E006-4CDB-9F22-3539F3013BE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8478078" cy="999849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Context-Free Grammars</a:t>
            </a:r>
            <a:endParaRPr lang="en-US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25F5470C-565F-4AC2-88E2-89A24A5344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101" y="1551402"/>
            <a:ext cx="5200650" cy="8472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EAA0BCE8-16E8-45B6-A819-828ACDEDE1F4}"/>
              </a:ext>
            </a:extLst>
          </p:cNvPr>
          <p:cNvSpPr txBox="1">
            <a:spLocks noChangeArrowheads="1"/>
          </p:cNvSpPr>
          <p:nvPr/>
        </p:nvSpPr>
        <p:spPr>
          <a:xfrm>
            <a:off x="689113" y="1541463"/>
            <a:ext cx="10681252" cy="2933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13208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In this grammar, </a:t>
            </a:r>
            <a:br>
              <a:rPr lang="en-US" sz="3200" dirty="0">
                <a:sym typeface="Times New Roman" charset="0"/>
              </a:rPr>
            </a:br>
            <a:r>
              <a:rPr lang="en-US" sz="3200" dirty="0">
                <a:sym typeface="Times New Roman" charset="0"/>
              </a:rPr>
              <a:t>generate the string </a:t>
            </a:r>
            <a:br>
              <a:rPr lang="en-US" sz="3200" dirty="0">
                <a:sym typeface="Times New Roman" charset="0"/>
              </a:rPr>
            </a:br>
            <a:r>
              <a:rPr lang="en-US" sz="3200" b="1" dirty="0">
                <a:latin typeface="Courier New"/>
                <a:cs typeface="Courier New"/>
                <a:sym typeface="Times New Roman" charset="0"/>
              </a:rPr>
              <a:t>"slope * x + intercept"</a:t>
            </a:r>
            <a:r>
              <a:rPr lang="en-US" sz="3200" dirty="0">
                <a:sym typeface="Times New Roman" charset="0"/>
              </a:rPr>
              <a:t> 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D44F770-45B1-4A44-A5BC-BADB8162B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2"/>
          <a:stretch>
            <a:fillRect/>
          </a:stretch>
        </p:blipFill>
        <p:spPr bwMode="auto">
          <a:xfrm>
            <a:off x="2588833" y="2925487"/>
            <a:ext cx="4976812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2947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76316499-E006-4CDB-9F22-3539F3013BE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8478078" cy="999849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Context-Free Grammars</a:t>
            </a:r>
            <a:endParaRPr lang="en-US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0198F76-2A40-41ED-935A-FADAA7C72A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30363"/>
            <a:ext cx="10515600" cy="4546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rIns="132080"/>
          <a:lstStyle/>
          <a:p>
            <a:pPr eaLnBrk="1" hangingPunct="1"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Parse tree for expression grammar for  </a:t>
            </a:r>
            <a:r>
              <a:rPr lang="en-US" sz="3200" b="1" dirty="0">
                <a:latin typeface="Courier New"/>
                <a:cs typeface="Courier New"/>
                <a:sym typeface="Times New Roman" charset="0"/>
              </a:rPr>
              <a:t>"slope * x + intercept"</a:t>
            </a:r>
            <a:r>
              <a:rPr lang="en-US" sz="3200" dirty="0">
                <a:sym typeface="Times New Roman" charset="0"/>
              </a:rPr>
              <a:t> </a:t>
            </a:r>
          </a:p>
          <a:p>
            <a:pPr eaLnBrk="1" hangingPunct="1">
              <a:buFont typeface="Times New Roman" charset="0"/>
              <a:buChar char="•"/>
              <a:defRPr/>
            </a:pPr>
            <a:endParaRPr lang="en-US" sz="3200" dirty="0">
              <a:latin typeface="Courier New Bold" charset="0"/>
              <a:sym typeface="Courier New Bold" charset="0"/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6356FC64-278A-4EC9-8553-3E603E270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739" y="2606469"/>
            <a:ext cx="8001000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331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76316499-E006-4CDB-9F22-3539F3013BE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745435" y="431385"/>
            <a:ext cx="8478078" cy="999849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Context-Free Grammars</a:t>
            </a:r>
            <a:endParaRPr lang="en-US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0F9512A-F34C-4907-94BE-364D7C560F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30363"/>
            <a:ext cx="10515600" cy="4546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rIns="132080"/>
          <a:lstStyle/>
          <a:p>
            <a:pPr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Alternate (</a:t>
            </a:r>
            <a:r>
              <a:rPr lang="en-US" dirty="0"/>
              <a:t>less desirable</a:t>
            </a:r>
            <a:r>
              <a:rPr lang="en-US" sz="3200" dirty="0">
                <a:sym typeface="Times New Roman" charset="0"/>
              </a:rPr>
              <a:t>) Parse tree for  </a:t>
            </a:r>
            <a:br>
              <a:rPr lang="en-US" sz="3200" dirty="0">
                <a:sym typeface="Times New Roman" charset="0"/>
              </a:rPr>
            </a:br>
            <a:r>
              <a:rPr lang="en-US" sz="3200" b="1" dirty="0">
                <a:latin typeface="Courier New"/>
                <a:cs typeface="Courier New"/>
                <a:sym typeface="Times New Roman" charset="0"/>
              </a:rPr>
              <a:t>"slope * x + intercept"</a:t>
            </a:r>
          </a:p>
          <a:p>
            <a:pPr eaLnBrk="1" hangingPunct="1">
              <a:buFont typeface="Times New Roman" charset="0"/>
              <a:buChar char="•"/>
              <a:defRPr/>
            </a:pPr>
            <a:r>
              <a:rPr lang="en-US" sz="3200" dirty="0">
                <a:cs typeface="Courier New"/>
                <a:sym typeface="Times New Roman" charset="0"/>
              </a:rPr>
              <a:t>Our grammar is ambiguous</a:t>
            </a:r>
            <a:r>
              <a:rPr lang="en-US" sz="3200" dirty="0">
                <a:sym typeface="Times New Roman" charset="0"/>
              </a:rPr>
              <a:t> </a:t>
            </a:r>
          </a:p>
          <a:p>
            <a:pPr eaLnBrk="1" hangingPunct="1">
              <a:buFont typeface="Times New Roman" charset="0"/>
              <a:buChar char="•"/>
              <a:defRPr/>
            </a:pPr>
            <a:endParaRPr lang="en-US" sz="3200" dirty="0">
              <a:sym typeface="Courier New Bold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5BE2444-C97B-4081-9DAE-0F5B113FD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417" y="3095901"/>
            <a:ext cx="822960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1558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76316499-E006-4CDB-9F22-3539F3013BE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8478078" cy="999849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Context-Free Grammars</a:t>
            </a:r>
            <a:endParaRPr lang="en-US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1FC110E-5E59-49F2-8848-7FEFBF553D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30363"/>
            <a:ext cx="10515600" cy="4546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rIns="132080"/>
          <a:lstStyle/>
          <a:p>
            <a:pPr eaLnBrk="1" hangingPunct="1"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A better version because it is unambiguous </a:t>
            </a:r>
            <a:br>
              <a:rPr lang="en-US" sz="3200" dirty="0">
                <a:sym typeface="Times New Roman" charset="0"/>
              </a:rPr>
            </a:br>
            <a:r>
              <a:rPr lang="en-US" sz="3200" dirty="0">
                <a:sym typeface="Times New Roman" charset="0"/>
              </a:rPr>
              <a:t>and captures precedence</a:t>
            </a:r>
          </a:p>
          <a:p>
            <a:pPr eaLnBrk="1" hangingPunct="1">
              <a:buFont typeface="Times New Roman" charset="0"/>
              <a:buChar char="•"/>
              <a:defRPr/>
            </a:pPr>
            <a:endParaRPr lang="en-US" sz="3200" b="1" dirty="0">
              <a:latin typeface="Courier New Bold" charset="0"/>
              <a:sym typeface="Courier New Bold" charset="0"/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B0E6DE1E-1AFE-4D8E-A892-36C29CC85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522" y="2932043"/>
            <a:ext cx="7874000" cy="288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693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8C8F7-46A3-4AA3-8284-F710FF8E7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10515600" cy="4546946"/>
          </a:xfrm>
        </p:spPr>
        <p:txBody>
          <a:bodyPr/>
          <a:lstStyle/>
          <a:p>
            <a:r>
              <a:rPr lang="en-US" dirty="0">
                <a:sym typeface="Times New Roman" charset="0"/>
              </a:rPr>
              <a:t>Parse tree expression grammar for  </a:t>
            </a:r>
            <a:r>
              <a:rPr lang="en-US" b="1" dirty="0">
                <a:latin typeface="Courier New Bold" charset="0"/>
                <a:cs typeface="Courier New Bold" charset="0"/>
                <a:sym typeface="Courier New Bold" charset="0"/>
              </a:rPr>
              <a:t>3 + 4 * 5</a:t>
            </a:r>
            <a:endParaRPr lang="en-US" b="1" dirty="0">
              <a:latin typeface="Courier New Bold" charset="0"/>
              <a:sym typeface="Courier New Bold" charset="0"/>
            </a:endParaRPr>
          </a:p>
          <a:p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316499-E006-4CDB-9F22-3539F3013BE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8478078" cy="999849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Context-Free Grammars</a:t>
            </a:r>
            <a:endParaRPr lang="en-US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EBB72010-A9DC-4B7C-B0C7-B39DC1DD7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034" y="2748583"/>
            <a:ext cx="7620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2373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8C8F7-46A3-4AA3-8284-F710FF8E7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10515600" cy="4546946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ym typeface="Times New Roman" charset="0"/>
              </a:rPr>
              <a:t>Exercise </a:t>
            </a:r>
          </a:p>
          <a:p>
            <a:pPr marL="0" indent="0">
              <a:buNone/>
            </a:pPr>
            <a:r>
              <a:rPr lang="en-US" dirty="0">
                <a:sym typeface="Times New Roman" charset="0"/>
              </a:rPr>
              <a:t>Write a Parse tree expression grammar </a:t>
            </a:r>
            <a:r>
              <a:rPr lang="en-US" dirty="0"/>
              <a:t>for 10 – 4 – 3, with left associativity </a:t>
            </a:r>
          </a:p>
          <a:p>
            <a:pPr marL="0" indent="0">
              <a:buNone/>
            </a:pPr>
            <a:endParaRPr lang="en-US" dirty="0">
              <a:sym typeface="Times New Roman" charset="0"/>
            </a:endParaRPr>
          </a:p>
          <a:p>
            <a:endParaRPr lang="en-US" dirty="0">
              <a:sym typeface="Times New Roman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316499-E006-4CDB-9F22-3539F3013BE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8478078" cy="999849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Context-Free Grammars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770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8C8F7-46A3-4AA3-8284-F710FF8E7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10515600" cy="4546946"/>
          </a:xfrm>
        </p:spPr>
        <p:txBody>
          <a:bodyPr/>
          <a:lstStyle/>
          <a:p>
            <a:r>
              <a:rPr lang="en-US" dirty="0">
                <a:sym typeface="Times New Roman" charset="0"/>
              </a:rPr>
              <a:t>Parse tree expression grammar </a:t>
            </a:r>
            <a:r>
              <a:rPr lang="en-US" dirty="0"/>
              <a:t>for 10 – 4 – 3, with left associativity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316499-E006-4CDB-9F22-3539F3013BE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8478078" cy="999849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Context-Free Grammars</a:t>
            </a:r>
            <a:endParaRPr lang="en-US" dirty="0"/>
          </a:p>
        </p:txBody>
      </p:sp>
      <p:pic>
        <p:nvPicPr>
          <p:cNvPr id="8" name="Picture 7" descr="A close up of a map&#10;&#10;Description generated with high confidence">
            <a:extLst>
              <a:ext uri="{FF2B5EF4-FFF2-40B4-BE49-F238E27FC236}">
                <a16:creationId xmlns:a16="http://schemas.microsoft.com/office/drawing/2014/main" id="{321F3FE7-C29C-43D3-A005-5A507E08A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039" y="2481236"/>
            <a:ext cx="6829487" cy="333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87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8C8F7-46A3-4AA3-8284-F710FF8E7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10515600" cy="4546946"/>
          </a:xfrm>
        </p:spPr>
        <p:txBody>
          <a:bodyPr/>
          <a:lstStyle/>
          <a:p>
            <a:pPr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Recall scanner is responsible for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removing comments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(often) dealing with </a:t>
            </a:r>
            <a:r>
              <a:rPr lang="en-US" sz="2800" i="1" dirty="0">
                <a:sym typeface="Times New Roman" charset="0"/>
              </a:rPr>
              <a:t>pragmas </a:t>
            </a:r>
            <a:r>
              <a:rPr lang="en-US" sz="2800" dirty="0">
                <a:sym typeface="Times New Roman" charset="0"/>
              </a:rPr>
              <a:t>(i.e., significant comments)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saving text of identifiers, numbers, strings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saving source locations (file, line, column) for error messages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316499-E006-4CDB-9F22-3539F3013BE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8478078" cy="999849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Scanning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446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8C8F7-46A3-4AA3-8284-F710FF8E7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10515600" cy="4546946"/>
          </a:xfrm>
        </p:spPr>
        <p:txBody>
          <a:bodyPr/>
          <a:lstStyle/>
          <a:p>
            <a:pPr>
              <a:buFont typeface="Times New Roman" charset="0"/>
              <a:buChar char="•"/>
              <a:defRPr/>
            </a:pPr>
            <a:r>
              <a:rPr lang="en-US" dirty="0">
                <a:sym typeface="Times New Roman" charset="0"/>
              </a:rPr>
              <a:t>Suppose we are building an ad-hoc (hand-written) scanner for Pascal: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dirty="0">
                <a:sym typeface="Times New Roman" charset="0"/>
              </a:rPr>
              <a:t>We read the characters one at a time with look-ahead</a:t>
            </a:r>
          </a:p>
          <a:p>
            <a:pPr>
              <a:buFont typeface="Times New Roman" charset="0"/>
              <a:buChar char="•"/>
              <a:defRPr/>
            </a:pPr>
            <a:r>
              <a:rPr lang="en-US" dirty="0">
                <a:sym typeface="Times New Roman" charset="0"/>
              </a:rPr>
              <a:t>If it is one of the one-character tokens </a:t>
            </a:r>
            <a:br>
              <a:rPr lang="en-US" dirty="0">
                <a:sym typeface="Times New Roman" charset="0"/>
              </a:rPr>
            </a:br>
            <a:r>
              <a:rPr lang="en-US" dirty="0">
                <a:latin typeface="Courier New" charset="0"/>
                <a:cs typeface="Courier New" charset="0"/>
                <a:sym typeface="Courier New" charset="0"/>
              </a:rPr>
              <a:t>{ ( ) [ ] &lt; &gt; , ; = + - </a:t>
            </a:r>
            <a:r>
              <a:rPr lang="en-US" dirty="0" err="1">
                <a:latin typeface="Courier New" charset="0"/>
                <a:cs typeface="Courier New" charset="0"/>
                <a:sym typeface="Courier New" charset="0"/>
              </a:rPr>
              <a:t>etc</a:t>
            </a:r>
            <a:r>
              <a:rPr lang="en-US" dirty="0">
                <a:latin typeface="Courier New" charset="0"/>
                <a:cs typeface="Courier New" charset="0"/>
                <a:sym typeface="Courier New" charset="0"/>
              </a:rPr>
              <a:t> }</a:t>
            </a:r>
            <a:br>
              <a:rPr lang="en-US" dirty="0">
                <a:latin typeface="Courier New" charset="0"/>
                <a:sym typeface="Courier New" charset="0"/>
              </a:rPr>
            </a:br>
            <a:r>
              <a:rPr lang="en-US" dirty="0">
                <a:sym typeface="Times New Roman" charset="0"/>
              </a:rPr>
              <a:t>we announce that token</a:t>
            </a:r>
          </a:p>
          <a:p>
            <a:pPr>
              <a:buFont typeface="Times New Roman" charset="0"/>
              <a:buChar char="•"/>
              <a:defRPr/>
            </a:pPr>
            <a:r>
              <a:rPr lang="en-US" dirty="0">
                <a:sym typeface="Times New Roman" charset="0"/>
              </a:rPr>
              <a:t>If it is a ., we look at the next character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dirty="0">
                <a:sym typeface="Times New Roman" charset="0"/>
              </a:rPr>
              <a:t>If that is a dot, we announce .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dirty="0">
                <a:sym typeface="Times New Roman" charset="0"/>
              </a:rPr>
              <a:t>Otherwise, we announce . and reuse the look-ahead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316499-E006-4CDB-9F22-3539F3013BE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8478078" cy="999849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Scanning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531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8C8F7-46A3-4AA3-8284-F710FF8E7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8809383" cy="4546946"/>
          </a:xfrm>
        </p:spPr>
        <p:txBody>
          <a:bodyPr/>
          <a:lstStyle/>
          <a:p>
            <a:r>
              <a:rPr lang="en-US" dirty="0"/>
              <a:t>Finite automata can be generated automatically from a set of regular expressions making it easy to regenerate a</a:t>
            </a:r>
          </a:p>
          <a:p>
            <a:r>
              <a:rPr lang="en-US" dirty="0"/>
              <a:t>scanner when token definitions change.</a:t>
            </a:r>
            <a:endParaRPr lang="en-US" sz="3200" dirty="0">
              <a:sym typeface="Times New Roman" charset="0"/>
            </a:endParaRPr>
          </a:p>
          <a:p>
            <a:pPr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deterministic finite automaton (DFA)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there is never more than one possible outgoing transition (arrow) labeled by that character.</a:t>
            </a:r>
          </a:p>
          <a:p>
            <a:pPr>
              <a:buFont typeface="Times New Roman" charset="0"/>
              <a:buChar char="•"/>
              <a:defRPr/>
            </a:pPr>
            <a:endParaRPr lang="en-US" sz="3200" dirty="0">
              <a:sym typeface="Times New Roman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316499-E006-4CDB-9F22-3539F3013BE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8478078" cy="999849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Scanning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040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8C8F7-46A3-4AA3-8284-F710FF8E7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8809383" cy="454694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/>
              <a:t>scanner generator implements the conversion as a series of three separate steps.</a:t>
            </a:r>
            <a:endParaRPr lang="en-US" sz="3600" dirty="0">
              <a:sym typeface="Times New Roman" charset="0"/>
            </a:endParaRPr>
          </a:p>
          <a:p>
            <a:pPr marL="0" indent="0">
              <a:buNone/>
              <a:defRPr/>
            </a:pPr>
            <a:r>
              <a:rPr lang="en-US" dirty="0">
                <a:sym typeface="Times New Roman" charset="0"/>
              </a:rPr>
              <a:t>1. </a:t>
            </a:r>
            <a:r>
              <a:rPr lang="en-US" dirty="0"/>
              <a:t>converts the regular expressions into a </a:t>
            </a:r>
            <a:r>
              <a:rPr lang="en-US" i="1" dirty="0"/>
              <a:t>nondeterministic </a:t>
            </a:r>
            <a:r>
              <a:rPr lang="en-US" dirty="0"/>
              <a:t>finite automaton (NFA).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there are epsilon transitions,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more than one outgoing transition labeled by the same character.</a:t>
            </a:r>
          </a:p>
          <a:p>
            <a:pPr marL="0" indent="0">
              <a:buNone/>
            </a:pPr>
            <a:r>
              <a:rPr lang="en-US" dirty="0"/>
              <a:t>2. translates the NFA into an equivalent DFA</a:t>
            </a:r>
          </a:p>
          <a:p>
            <a:pPr marL="0" indent="0">
              <a:buNone/>
            </a:pPr>
            <a:r>
              <a:rPr lang="en-US" dirty="0"/>
              <a:t>3. space optimization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minimum possible number of states.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sym typeface="Times New Roman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316499-E006-4CDB-9F22-3539F3013BE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8478078" cy="999849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Scanning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163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8C8F7-46A3-4AA3-8284-F710FF8E7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10515600" cy="4546946"/>
          </a:xfrm>
        </p:spPr>
        <p:txBody>
          <a:bodyPr/>
          <a:lstStyle/>
          <a:p>
            <a:pPr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We run the machine over and over to get one token after another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Nearly universal rule:</a:t>
            </a:r>
          </a:p>
          <a:p>
            <a:pPr marL="1182688" lvl="2">
              <a:buFont typeface="Times New Roman" charset="0"/>
              <a:buChar char="•"/>
              <a:defRPr/>
            </a:pPr>
            <a:r>
              <a:rPr lang="en-US" sz="2400" dirty="0">
                <a:sym typeface="Times New Roman" charset="0"/>
              </a:rPr>
              <a:t>always take the longest possible token from the input</a:t>
            </a:r>
            <a:br>
              <a:rPr lang="en-US" sz="2400" dirty="0">
                <a:sym typeface="Times New Roman" charset="0"/>
              </a:rPr>
            </a:br>
            <a:r>
              <a:rPr lang="en-US" sz="2400" dirty="0">
                <a:sym typeface="Times New Roman" charset="0"/>
              </a:rPr>
              <a:t>thus </a:t>
            </a:r>
            <a:r>
              <a:rPr lang="en-US" sz="2400" dirty="0" err="1">
                <a:sym typeface="Times New Roman" charset="0"/>
              </a:rPr>
              <a:t>foobar</a:t>
            </a:r>
            <a:r>
              <a:rPr lang="en-US" sz="2400" dirty="0">
                <a:sym typeface="Times New Roman" charset="0"/>
              </a:rPr>
              <a:t> is </a:t>
            </a:r>
            <a:r>
              <a:rPr lang="en-US" sz="2400" dirty="0" err="1">
                <a:sym typeface="Times New Roman" charset="0"/>
              </a:rPr>
              <a:t>foobar</a:t>
            </a:r>
            <a:r>
              <a:rPr lang="en-US" sz="2400" dirty="0">
                <a:sym typeface="Times New Roman" charset="0"/>
              </a:rPr>
              <a:t> and never f or foo or </a:t>
            </a:r>
            <a:r>
              <a:rPr lang="en-US" sz="2400" dirty="0" err="1">
                <a:sym typeface="Times New Roman" charset="0"/>
              </a:rPr>
              <a:t>foob</a:t>
            </a:r>
            <a:endParaRPr lang="en-US" sz="2400" dirty="0">
              <a:sym typeface="Times New Roman" charset="0"/>
            </a:endParaRPr>
          </a:p>
          <a:p>
            <a:pPr marL="1182688" lvl="2">
              <a:buFont typeface="Times New Roman" charset="0"/>
              <a:buChar char="•"/>
              <a:defRPr/>
            </a:pPr>
            <a:r>
              <a:rPr lang="en-US" sz="2400" dirty="0">
                <a:sym typeface="Times New Roman" charset="0"/>
              </a:rPr>
              <a:t>more to the point, </a:t>
            </a:r>
            <a:r>
              <a:rPr lang="en-US" sz="2400" dirty="0">
                <a:latin typeface="Courier New" charset="0"/>
                <a:cs typeface="Courier New" charset="0"/>
                <a:sym typeface="Courier New" charset="0"/>
              </a:rPr>
              <a:t>3.14159</a:t>
            </a:r>
            <a:r>
              <a:rPr lang="en-US" sz="2400" dirty="0">
                <a:sym typeface="Times New Roman" charset="0"/>
              </a:rPr>
              <a:t> is a real const and never </a:t>
            </a:r>
            <a:r>
              <a:rPr lang="en-US" sz="2400" dirty="0">
                <a:latin typeface="Courier New" charset="0"/>
                <a:cs typeface="Courier New" charset="0"/>
                <a:sym typeface="Courier New" charset="0"/>
              </a:rPr>
              <a:t>3, .,</a:t>
            </a:r>
            <a:r>
              <a:rPr lang="en-US" sz="2400" dirty="0">
                <a:sym typeface="Times New Roman" charset="0"/>
              </a:rPr>
              <a:t> and </a:t>
            </a:r>
            <a:r>
              <a:rPr lang="en-US" sz="2400" dirty="0">
                <a:latin typeface="Courier New" charset="0"/>
                <a:cs typeface="Courier New" charset="0"/>
                <a:sym typeface="Courier New" charset="0"/>
              </a:rPr>
              <a:t>14159</a:t>
            </a:r>
            <a:endParaRPr lang="en-US" sz="2400" dirty="0">
              <a:latin typeface="Courier New" charset="0"/>
              <a:sym typeface="Courier New" charset="0"/>
            </a:endParaRPr>
          </a:p>
          <a:p>
            <a:pPr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Regular expressions "generate" a regular language; DFAs "recognize" it</a:t>
            </a:r>
          </a:p>
          <a:p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316499-E006-4CDB-9F22-3539F3013BE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8478078" cy="999849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Scanning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188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351A8-F456-4B5D-AB3C-E975E4679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10515600" cy="4546946"/>
          </a:xfrm>
        </p:spPr>
        <p:txBody>
          <a:bodyPr/>
          <a:lstStyle/>
          <a:p>
            <a:pPr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Scanners tend to be built three ways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ad-hoc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semi-mechanical pure DFA </a:t>
            </a:r>
            <a:br>
              <a:rPr lang="en-US" sz="2800" dirty="0">
                <a:sym typeface="Times New Roman" charset="0"/>
              </a:rPr>
            </a:br>
            <a:r>
              <a:rPr lang="en-US" sz="2800" dirty="0">
                <a:sym typeface="Times New Roman" charset="0"/>
              </a:rPr>
              <a:t>(usually realized as nested case statements)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table-driven DFA</a:t>
            </a:r>
          </a:p>
          <a:p>
            <a:pPr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Ad-hoc generally yields the fastest, most compact code by doing lots of special-purpose things, though good automatically-generated scanners come very close</a:t>
            </a:r>
          </a:p>
          <a:p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93D82D-0668-4CEB-BFDF-54B17EC634D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7457661" cy="1039605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Scanning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08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351A8-F456-4B5D-AB3C-E975E4679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10515600" cy="4546946"/>
          </a:xfrm>
        </p:spPr>
        <p:txBody>
          <a:bodyPr/>
          <a:lstStyle/>
          <a:p>
            <a:pPr>
              <a:buFont typeface="Times New Roman" charset="0"/>
              <a:buChar char="•"/>
              <a:defRPr/>
            </a:pPr>
            <a:r>
              <a:rPr lang="en-US" dirty="0">
                <a:sym typeface="Times New Roman" charset="0"/>
              </a:rPr>
              <a:t>Note that the rule about longest-possible tokens means you return only when the next character can't be used to continue the current token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dirty="0">
                <a:sym typeface="Times New Roman" charset="0"/>
              </a:rPr>
              <a:t>the next character will generally need to be saved for the next token</a:t>
            </a:r>
          </a:p>
          <a:p>
            <a:pPr>
              <a:buFont typeface="Times New Roman" charset="0"/>
              <a:buChar char="•"/>
              <a:defRPr/>
            </a:pPr>
            <a:r>
              <a:rPr lang="en-US" dirty="0">
                <a:sym typeface="Times New Roman" charset="0"/>
              </a:rPr>
              <a:t>In some cases, you may need to peek at more than one character of look-ahead in order to know whether to proceed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93D82D-0668-4CEB-BFDF-54B17EC634D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7457661" cy="1039605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Scanning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542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95310FE-005D-4E11-A55F-8DB64A946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lnSpc>
                <a:spcPct val="110000"/>
              </a:lnSpc>
              <a:buFont typeface="Times New Roman" charset="0"/>
              <a:buChar char="•"/>
              <a:defRPr/>
            </a:pPr>
            <a:endParaRPr lang="en-US" sz="3200" dirty="0">
              <a:sym typeface="Arial Black" charset="0"/>
            </a:endParaRPr>
          </a:p>
          <a:p>
            <a:pPr algn="ctr">
              <a:lnSpc>
                <a:spcPct val="110000"/>
              </a:lnSpc>
              <a:buFont typeface="Times New Roman" charset="0"/>
              <a:buChar char="•"/>
              <a:defRPr/>
            </a:pPr>
            <a:endParaRPr lang="en-US" sz="3200" dirty="0">
              <a:sym typeface="Arial Black" charset="0"/>
            </a:endParaRPr>
          </a:p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3200" dirty="0">
                <a:sym typeface="Arial Black" charset="0"/>
              </a:rPr>
              <a:t>Reading Assignment - </a:t>
            </a:r>
            <a:r>
              <a:rPr lang="en-US" sz="3200" b="1" dirty="0">
                <a:sym typeface="Arial Black" charset="0"/>
              </a:rPr>
              <a:t>Parsing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67120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351A8-F456-4B5D-AB3C-E975E4679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10515600" cy="4546946"/>
          </a:xfrm>
        </p:spPr>
        <p:txBody>
          <a:bodyPr/>
          <a:lstStyle/>
          <a:p>
            <a:pPr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Terminology: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context-free grammar (CFG)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symbols</a:t>
            </a:r>
          </a:p>
          <a:p>
            <a:pPr marL="1182688" lvl="2">
              <a:buFont typeface="Times New Roman" charset="0"/>
              <a:buChar char="•"/>
              <a:defRPr/>
            </a:pPr>
            <a:r>
              <a:rPr lang="en-US" sz="2400" dirty="0">
                <a:sym typeface="Times New Roman" charset="0"/>
              </a:rPr>
              <a:t>terminals (tokens)</a:t>
            </a:r>
          </a:p>
          <a:p>
            <a:pPr marL="1182688" lvl="2">
              <a:buFont typeface="Times New Roman" charset="0"/>
              <a:buChar char="•"/>
              <a:defRPr/>
            </a:pPr>
            <a:r>
              <a:rPr lang="en-US" sz="2400" dirty="0">
                <a:sym typeface="Times New Roman" charset="0"/>
              </a:rPr>
              <a:t>non-terminals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production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derivations (left-most and right-most - canonical)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parse trees</a:t>
            </a:r>
          </a:p>
          <a:p>
            <a:pPr marL="782638" lvl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sentential form</a:t>
            </a:r>
          </a:p>
          <a:p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93D82D-0668-4CEB-BFDF-54B17EC634D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7457661" cy="1039605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Parsing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9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BD93D82D-0668-4CEB-BFDF-54B17EC634D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7457661" cy="1039605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Parsing</a:t>
            </a:r>
            <a:endParaRPr lang="en-US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2479543-551C-44CD-8B7F-F652FCE173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30363"/>
            <a:ext cx="10515600" cy="4546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rIns="132080"/>
          <a:lstStyle/>
          <a:p>
            <a:pPr eaLnBrk="1" hangingPunct="1">
              <a:lnSpc>
                <a:spcPct val="110000"/>
              </a:lnSpc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By analogy a context-free grammar (CFG) is a </a:t>
            </a:r>
            <a:r>
              <a:rPr lang="en-US" sz="3200" i="1" dirty="0">
                <a:sym typeface="Times New Roman" charset="0"/>
              </a:rPr>
              <a:t>generator</a:t>
            </a:r>
            <a:r>
              <a:rPr lang="en-US" sz="3200" dirty="0">
                <a:sym typeface="Times New Roman" charset="0"/>
              </a:rPr>
              <a:t> for a context-free language (CFL)</a:t>
            </a:r>
          </a:p>
          <a:p>
            <a:pPr marL="782638" lvl="1" eaLnBrk="1" hangingPunct="1">
              <a:lnSpc>
                <a:spcPct val="110000"/>
              </a:lnSpc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a parser is a language </a:t>
            </a:r>
            <a:r>
              <a:rPr lang="en-US" sz="2800" i="1" dirty="0">
                <a:sym typeface="Times New Roman" charset="0"/>
              </a:rPr>
              <a:t>recognizer</a:t>
            </a:r>
          </a:p>
          <a:p>
            <a:pPr eaLnBrk="1" hangingPunct="1">
              <a:lnSpc>
                <a:spcPct val="110000"/>
              </a:lnSpc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There is an infinite number of grammars for every context-free language </a:t>
            </a:r>
          </a:p>
          <a:p>
            <a:pPr marL="782638" lvl="1" eaLnBrk="1" hangingPunct="1">
              <a:lnSpc>
                <a:spcPct val="110000"/>
              </a:lnSpc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not all grammars are created equal</a:t>
            </a:r>
          </a:p>
        </p:txBody>
      </p:sp>
    </p:spTree>
    <p:extLst>
      <p:ext uri="{BB962C8B-B14F-4D97-AF65-F5344CB8AC3E}">
        <p14:creationId xmlns:p14="http://schemas.microsoft.com/office/powerpoint/2010/main" val="3654538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BD93D82D-0668-4CEB-BFDF-54B17EC634D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7457661" cy="1039605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Parsing</a:t>
            </a:r>
            <a:endParaRPr lang="en-US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F320DF6A-BE00-4759-A6B1-19E901DAEF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30363"/>
            <a:ext cx="10515600" cy="4546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rIns="132080"/>
          <a:lstStyle/>
          <a:p>
            <a:pPr eaLnBrk="1" hangingPunct="1"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It turns out that for any CFG we can create a parser that runs in O(n^3) time</a:t>
            </a:r>
          </a:p>
          <a:p>
            <a:pPr eaLnBrk="1" hangingPunct="1"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There are two well-known parsing algorithms that permit this</a:t>
            </a:r>
          </a:p>
          <a:p>
            <a:pPr marL="782638" lvl="1" eaLnBrk="1" hangingPunct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Early's algorithm</a:t>
            </a:r>
          </a:p>
          <a:p>
            <a:pPr marL="782638" lvl="1" eaLnBrk="1" hangingPunct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Cooke-Younger-</a:t>
            </a:r>
            <a:r>
              <a:rPr lang="en-US" sz="2800" dirty="0" err="1">
                <a:sym typeface="Times New Roman" charset="0"/>
              </a:rPr>
              <a:t>Kasami</a:t>
            </a:r>
            <a:r>
              <a:rPr lang="en-US" sz="2800" dirty="0">
                <a:sym typeface="Times New Roman" charset="0"/>
              </a:rPr>
              <a:t> (CYK) algorithm</a:t>
            </a:r>
          </a:p>
          <a:p>
            <a:pPr eaLnBrk="1" hangingPunct="1"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O(n^3) time is clearly unacceptable for a parser in a compiler - too slow</a:t>
            </a:r>
          </a:p>
        </p:txBody>
      </p:sp>
    </p:spTree>
    <p:extLst>
      <p:ext uri="{BB962C8B-B14F-4D97-AF65-F5344CB8AC3E}">
        <p14:creationId xmlns:p14="http://schemas.microsoft.com/office/powerpoint/2010/main" val="259332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BD93D82D-0668-4CEB-BFDF-54B17EC634D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7457661" cy="1039605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Parsing</a:t>
            </a:r>
            <a:endParaRPr lang="en-US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C8E4568F-CAF7-40A0-927F-9BD968B012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30363"/>
            <a:ext cx="10515600" cy="4546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rIns="132080"/>
          <a:lstStyle/>
          <a:p>
            <a:pPr eaLnBrk="1" hangingPunct="1"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Fortunately, there are large classes of grammars for which we can build parsers that run in linear time</a:t>
            </a:r>
          </a:p>
          <a:p>
            <a:pPr marL="782638" lvl="1" eaLnBrk="1" hangingPunct="1">
              <a:buFont typeface="Times New Roman" charset="0"/>
              <a:buChar char="–"/>
              <a:defRPr/>
            </a:pPr>
            <a:r>
              <a:rPr lang="en-US" sz="2800" dirty="0">
                <a:sym typeface="Times New Roman" charset="0"/>
              </a:rPr>
              <a:t>The two most important classes are called </a:t>
            </a:r>
            <a:br>
              <a:rPr lang="en-US" sz="2800" dirty="0">
                <a:sym typeface="Times New Roman" charset="0"/>
              </a:rPr>
            </a:br>
            <a:r>
              <a:rPr lang="en-US" sz="2800" b="1" dirty="0">
                <a:sym typeface="Times New Roman" charset="0"/>
              </a:rPr>
              <a:t>LL</a:t>
            </a:r>
            <a:r>
              <a:rPr lang="en-US" sz="2800" dirty="0">
                <a:sym typeface="Times New Roman" charset="0"/>
              </a:rPr>
              <a:t> and </a:t>
            </a:r>
            <a:r>
              <a:rPr lang="en-US" sz="2800" b="1" dirty="0">
                <a:sym typeface="Times New Roman" charset="0"/>
              </a:rPr>
              <a:t>LR</a:t>
            </a:r>
          </a:p>
          <a:p>
            <a:pPr eaLnBrk="1" hangingPunct="1"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LL stands for </a:t>
            </a:r>
            <a:br>
              <a:rPr lang="en-US" sz="3200" dirty="0">
                <a:sym typeface="Times New Roman" charset="0"/>
              </a:rPr>
            </a:br>
            <a:r>
              <a:rPr lang="en-US" sz="3200" dirty="0">
                <a:sym typeface="Times New Roman" charset="0"/>
              </a:rPr>
              <a:t>'Left-to-right, Leftmost derivation'.</a:t>
            </a:r>
          </a:p>
          <a:p>
            <a:pPr eaLnBrk="1" hangingPunct="1">
              <a:buFont typeface="Times New Roman" charset="0"/>
              <a:buChar char="•"/>
              <a:defRPr/>
            </a:pPr>
            <a:r>
              <a:rPr lang="en-US" sz="3200" dirty="0">
                <a:sym typeface="Times New Roman" charset="0"/>
              </a:rPr>
              <a:t>LR stands for </a:t>
            </a:r>
            <a:br>
              <a:rPr lang="en-US" sz="3200" dirty="0">
                <a:sym typeface="Times New Roman" charset="0"/>
              </a:rPr>
            </a:br>
            <a:r>
              <a:rPr lang="en-US" sz="3200" dirty="0">
                <a:sym typeface="Times New Roman" charset="0"/>
              </a:rPr>
              <a:t>'Left-to-right, Rightmost derivation</a:t>
            </a:r>
            <a:r>
              <a:rPr lang="ja-JP" altLang="en-US" sz="3200" dirty="0">
                <a:latin typeface="Arial"/>
                <a:sym typeface="Times New Roman" charset="0"/>
              </a:rPr>
              <a:t>’</a:t>
            </a:r>
            <a:endParaRPr lang="en-US" sz="3200" dirty="0">
              <a:sym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4284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351A8-F456-4B5D-AB3C-E975E4679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10515600" cy="4546946"/>
          </a:xfrm>
        </p:spPr>
        <p:txBody>
          <a:bodyPr/>
          <a:lstStyle/>
          <a:p>
            <a:r>
              <a:rPr lang="en-US" dirty="0">
                <a:sym typeface="Times New Roman" charset="0"/>
              </a:rPr>
              <a:t>LL parsers are also called 'top-down', or 'predictive' parsers. </a:t>
            </a:r>
          </a:p>
          <a:p>
            <a:r>
              <a:rPr lang="en-US" dirty="0"/>
              <a:t>They construct a parse tree from the root down, predicting at each step which production will be used to expand the current node, based on the next available token of input.</a:t>
            </a:r>
          </a:p>
          <a:p>
            <a:r>
              <a:rPr lang="en-US" dirty="0">
                <a:sym typeface="Times New Roman" charset="0"/>
              </a:rPr>
              <a:t>LR parsers are also called 'bottom-up', or 'shift-reduce' parsers.</a:t>
            </a:r>
          </a:p>
          <a:p>
            <a:r>
              <a:rPr lang="en-US" dirty="0"/>
              <a:t>They construct a parse tree from the leaves up, recognizing when a collection of leaves or other nodes can be joined together as the children of a single parent.</a:t>
            </a:r>
            <a:endParaRPr lang="en-US" dirty="0">
              <a:sym typeface="Times New Roman" charset="0"/>
            </a:endParaRPr>
          </a:p>
          <a:p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93D82D-0668-4CEB-BFDF-54B17EC634D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7457661" cy="1039605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Parsing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604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351A8-F456-4B5D-AB3C-E975E4679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10515600" cy="45469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(Top-down)</a:t>
            </a:r>
          </a:p>
          <a:p>
            <a:pPr marL="0" indent="0">
              <a:buNone/>
            </a:pPr>
            <a:r>
              <a:rPr lang="en-US" dirty="0"/>
              <a:t>For the string A, B, C;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93D82D-0668-4CEB-BFDF-54B17EC634D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7457661" cy="1039605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Parsing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E8F03-B58F-4400-A95B-C443B5C71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839" y="1722707"/>
            <a:ext cx="4466875" cy="445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25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351A8-F456-4B5D-AB3C-E975E4679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10515600" cy="45469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(bottom-up parsing)</a:t>
            </a:r>
          </a:p>
          <a:p>
            <a:pPr marL="0" indent="0">
              <a:buNone/>
            </a:pPr>
            <a:r>
              <a:rPr lang="en-US" dirty="0"/>
              <a:t>For the string A, B, C;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93D82D-0668-4CEB-BFDF-54B17EC634D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7457661" cy="1039605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Parsing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B1E8E2-F585-4C57-B5A3-2927A6EF0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385" y="1751396"/>
            <a:ext cx="4819624" cy="442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10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351A8-F456-4B5D-AB3C-E975E4679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10515600" cy="45469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(bottom-up parsing)</a:t>
            </a:r>
          </a:p>
          <a:p>
            <a:pPr marL="0" indent="0">
              <a:buNone/>
            </a:pPr>
            <a:r>
              <a:rPr lang="en-US" dirty="0"/>
              <a:t>For the string A, B, C;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93D82D-0668-4CEB-BFDF-54B17EC634D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7457661" cy="1039605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Parsing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F7D4ED-96F0-4A99-9FC6-B546CCE6D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030" y="2299455"/>
            <a:ext cx="4577420" cy="387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44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351A8-F456-4B5D-AB3C-E975E4679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10515600" cy="45469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(bottom-up parsing)</a:t>
            </a:r>
          </a:p>
          <a:p>
            <a:pPr marL="0" indent="0">
              <a:buNone/>
            </a:pPr>
            <a:r>
              <a:rPr lang="en-US" dirty="0"/>
              <a:t>For the string A, B, C;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93D82D-0668-4CEB-BFDF-54B17EC634D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7457661" cy="1039605"/>
          </a:xfrm>
          <a:prstGeom prst="rect">
            <a:avLst/>
          </a:prstGeom>
          <a:solidFill>
            <a:srgbClr val="B2B2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 Black" charset="0"/>
              </a:rPr>
              <a:t>Parsing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2E2B91-F8DA-488D-9496-729F44A6B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272" y="2245855"/>
            <a:ext cx="5385405" cy="343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139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3932</TotalTime>
  <Words>1001</Words>
  <Application>Microsoft Office PowerPoint</Application>
  <PresentationFormat>Widescreen</PresentationFormat>
  <Paragraphs>148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Yu Gothic</vt:lpstr>
      <vt:lpstr>Arial</vt:lpstr>
      <vt:lpstr>Arial Black</vt:lpstr>
      <vt:lpstr>Calibri</vt:lpstr>
      <vt:lpstr>Calibri Light</vt:lpstr>
      <vt:lpstr>Courier New</vt:lpstr>
      <vt:lpstr>Courier New Bold</vt:lpstr>
      <vt:lpstr>Symbol</vt:lpstr>
      <vt:lpstr>Times New Roman</vt:lpstr>
      <vt:lpstr>Wingdings</vt:lpstr>
      <vt:lpstr>Office Theme</vt:lpstr>
      <vt:lpstr>Chapter 2</vt:lpstr>
      <vt:lpstr>PowerPoint Presentation</vt:lpstr>
      <vt:lpstr>PowerPoint Presentation</vt:lpstr>
      <vt:lpstr>PowerPoint Presentation</vt:lpstr>
      <vt:lpstr>PowerPoint Presentation</vt:lpstr>
      <vt:lpstr>Regular Expressions</vt:lpstr>
      <vt:lpstr>Regular Expressions</vt:lpstr>
      <vt:lpstr>Context-Free Grammars</vt:lpstr>
      <vt:lpstr>Context-Free Grammars</vt:lpstr>
      <vt:lpstr>Context-Free Grammars</vt:lpstr>
      <vt:lpstr>Context-Free Grammars</vt:lpstr>
      <vt:lpstr>Context-Free Grammars</vt:lpstr>
      <vt:lpstr>Context-Free Grammars</vt:lpstr>
      <vt:lpstr>Context-Free Grammars</vt:lpstr>
      <vt:lpstr>Context-Free Grammars</vt:lpstr>
      <vt:lpstr>Context-Free Grammars</vt:lpstr>
      <vt:lpstr>Scanning</vt:lpstr>
      <vt:lpstr>Scanning</vt:lpstr>
      <vt:lpstr>Scanning</vt:lpstr>
      <vt:lpstr>Scanning</vt:lpstr>
      <vt:lpstr>Scanning</vt:lpstr>
      <vt:lpstr>Scanning</vt:lpstr>
      <vt:lpstr>Scanning</vt:lpstr>
      <vt:lpstr>PowerPoint Presentation</vt:lpstr>
      <vt:lpstr>Parsing</vt:lpstr>
      <vt:lpstr>Parsing</vt:lpstr>
      <vt:lpstr>Parsing</vt:lpstr>
      <vt:lpstr>Parsing</vt:lpstr>
      <vt:lpstr>Parsing</vt:lpstr>
      <vt:lpstr>Parsing</vt:lpstr>
      <vt:lpstr>Parsing</vt:lpstr>
      <vt:lpstr>Parsing</vt:lpstr>
      <vt:lpstr>Parsing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Fana Gebreegziabiher</dc:creator>
  <cp:lastModifiedBy>Fana Gebreegziabiher</cp:lastModifiedBy>
  <cp:revision>25</cp:revision>
  <dcterms:created xsi:type="dcterms:W3CDTF">2019-04-07T09:21:33Z</dcterms:created>
  <dcterms:modified xsi:type="dcterms:W3CDTF">2019-04-10T19:59:20Z</dcterms:modified>
</cp:coreProperties>
</file>